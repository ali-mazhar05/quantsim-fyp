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0080711" y="1481328"/>
            <a:ext cx="1726935" cy="4956047"/>
          </a:xfrm>
          <a:prstGeom prst="rect">
            <a:avLst/>
          </a:prstGeom>
          <a:solidFill>
            <a:srgbClr val="EC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274320"/>
            <a:ext cx="8229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71C"/>
                </a:solidFill>
                <a:latin typeface="Segoe U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9007" y="29260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6F7B87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F4A55"/>
                </a:solidFill>
                <a:latin typeface="Segoe UI"/>
              </a:rPr>
              <a:t>Existing platforms are capable, but each is optimised around a different objective. The gap is the combination of synthetic multi-model simulation, deliberate stress testing, topology-based structural analysis and explainable AI inside one auditable research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72768"/>
            <a:ext cx="2660903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7B87"/>
                </a:solidFill>
                <a:latin typeface="Segoe UI"/>
              </a:rPr>
              <a:t>CORE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7" y="1517904"/>
            <a:ext cx="1635495" cy="4754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SimCorp One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Institutional front-to-back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5623" y="1517904"/>
            <a:ext cx="1635495" cy="4754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QuantConnect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Cloud algo backtesting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2559" y="1517904"/>
            <a:ext cx="1635495" cy="4754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QuantRocket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Python research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9495" y="1517904"/>
            <a:ext cx="1635495" cy="4754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AlgoTrader / Wyden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Institutional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26431" y="1517904"/>
            <a:ext cx="1635495" cy="4754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6F5B"/>
                </a:solidFill>
                <a:latin typeface="Segoe UI"/>
              </a:rPr>
              <a:t>QuantSim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0">
                <a:solidFill>
                  <a:srgbClr val="0B6F5B"/>
                </a:solidFill>
                <a:latin typeface="Segoe UI"/>
              </a:rPr>
              <a:t>Research &amp; risk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029968"/>
            <a:ext cx="11423599" cy="20320"/>
          </a:xfrm>
          <a:prstGeom prst="rect">
            <a:avLst/>
          </a:prstGeom>
          <a:solidFill>
            <a:srgbClr val="C7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075688"/>
            <a:ext cx="264261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171C"/>
                </a:solidFill>
                <a:latin typeface="Segoe UI"/>
              </a:rPr>
              <a:t>Synthetic multi-model market simulation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Monte Carlo, jump-diffusion, regime-switching path generation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3890131" y="2103120"/>
            <a:ext cx="292608" cy="292608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16" name="Oval 15"/>
          <p:cNvSpPr/>
          <p:nvPr/>
        </p:nvSpPr>
        <p:spPr>
          <a:xfrm>
            <a:off x="5617067" y="2103120"/>
            <a:ext cx="292608" cy="292608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17" name="Oval 16"/>
          <p:cNvSpPr/>
          <p:nvPr/>
        </p:nvSpPr>
        <p:spPr>
          <a:xfrm>
            <a:off x="7344003" y="2103120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8" name="Oval 17"/>
          <p:cNvSpPr/>
          <p:nvPr/>
        </p:nvSpPr>
        <p:spPr>
          <a:xfrm>
            <a:off x="9070939" y="2103120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9" name="Oval 18"/>
          <p:cNvSpPr/>
          <p:nvPr/>
        </p:nvSpPr>
        <p:spPr>
          <a:xfrm>
            <a:off x="10797875" y="2103120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2450592"/>
            <a:ext cx="11423599" cy="11430"/>
          </a:xfrm>
          <a:prstGeom prst="rect">
            <a:avLst/>
          </a:prstGeom>
          <a:solidFill>
            <a:srgbClr val="E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478024"/>
            <a:ext cx="264261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171C"/>
                </a:solidFill>
                <a:latin typeface="Segoe UI"/>
              </a:rPr>
              <a:t>Deliberate stress &amp; scenario testing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Operator-defined shocks as a first-class workflow</a:t>
            </a:r>
          </a:p>
        </p:txBody>
      </p:sp>
      <p:sp>
        <p:nvSpPr>
          <p:cNvPr id="22" name="Oval 21"/>
          <p:cNvSpPr/>
          <p:nvPr/>
        </p:nvSpPr>
        <p:spPr>
          <a:xfrm>
            <a:off x="3890131" y="2505456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Oval 22"/>
          <p:cNvSpPr/>
          <p:nvPr/>
        </p:nvSpPr>
        <p:spPr>
          <a:xfrm>
            <a:off x="5617067" y="2505456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4" name="Oval 23"/>
          <p:cNvSpPr/>
          <p:nvPr/>
        </p:nvSpPr>
        <p:spPr>
          <a:xfrm>
            <a:off x="7344003" y="2505456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5" name="Oval 24"/>
          <p:cNvSpPr/>
          <p:nvPr/>
        </p:nvSpPr>
        <p:spPr>
          <a:xfrm>
            <a:off x="9070939" y="2505456"/>
            <a:ext cx="292608" cy="292608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26" name="Oval 25"/>
          <p:cNvSpPr/>
          <p:nvPr/>
        </p:nvSpPr>
        <p:spPr>
          <a:xfrm>
            <a:off x="10797875" y="2505456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2852928"/>
            <a:ext cx="11423599" cy="11430"/>
          </a:xfrm>
          <a:prstGeom prst="rect">
            <a:avLst/>
          </a:prstGeom>
          <a:solidFill>
            <a:srgbClr val="E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2880360"/>
            <a:ext cx="264261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171C"/>
                </a:solidFill>
                <a:latin typeface="Segoe UI"/>
              </a:rPr>
              <a:t>Topology-based structural analysis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Persistent homology on correlation structure</a:t>
            </a:r>
          </a:p>
        </p:txBody>
      </p:sp>
      <p:sp>
        <p:nvSpPr>
          <p:cNvPr id="29" name="Oval 28"/>
          <p:cNvSpPr/>
          <p:nvPr/>
        </p:nvSpPr>
        <p:spPr>
          <a:xfrm>
            <a:off x="3890131" y="2907792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0" name="Oval 29"/>
          <p:cNvSpPr/>
          <p:nvPr/>
        </p:nvSpPr>
        <p:spPr>
          <a:xfrm>
            <a:off x="5617067" y="2907792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1" name="Oval 30"/>
          <p:cNvSpPr/>
          <p:nvPr/>
        </p:nvSpPr>
        <p:spPr>
          <a:xfrm>
            <a:off x="7344003" y="2907792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2" name="Oval 31"/>
          <p:cNvSpPr/>
          <p:nvPr/>
        </p:nvSpPr>
        <p:spPr>
          <a:xfrm>
            <a:off x="9070939" y="2907792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3" name="Oval 32"/>
          <p:cNvSpPr/>
          <p:nvPr/>
        </p:nvSpPr>
        <p:spPr>
          <a:xfrm>
            <a:off x="10797875" y="2907792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3255264"/>
            <a:ext cx="11423599" cy="11430"/>
          </a:xfrm>
          <a:prstGeom prst="rect">
            <a:avLst/>
          </a:prstGeom>
          <a:solidFill>
            <a:srgbClr val="E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282696"/>
            <a:ext cx="264261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171C"/>
                </a:solidFill>
                <a:latin typeface="Segoe UI"/>
              </a:rPr>
              <a:t>Explainable AI on risk drivers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Per-feature attribution behind every model output</a:t>
            </a:r>
          </a:p>
        </p:txBody>
      </p:sp>
      <p:sp>
        <p:nvSpPr>
          <p:cNvPr id="36" name="Oval 35"/>
          <p:cNvSpPr/>
          <p:nvPr/>
        </p:nvSpPr>
        <p:spPr>
          <a:xfrm>
            <a:off x="3890131" y="3310128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7" name="Oval 36"/>
          <p:cNvSpPr/>
          <p:nvPr/>
        </p:nvSpPr>
        <p:spPr>
          <a:xfrm>
            <a:off x="5617067" y="3310128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8" name="Oval 37"/>
          <p:cNvSpPr/>
          <p:nvPr/>
        </p:nvSpPr>
        <p:spPr>
          <a:xfrm>
            <a:off x="7344003" y="3310128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9" name="Oval 38"/>
          <p:cNvSpPr/>
          <p:nvPr/>
        </p:nvSpPr>
        <p:spPr>
          <a:xfrm>
            <a:off x="9070939" y="3310128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0" name="Oval 39"/>
          <p:cNvSpPr/>
          <p:nvPr/>
        </p:nvSpPr>
        <p:spPr>
          <a:xfrm>
            <a:off x="10797875" y="3310128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3657600"/>
            <a:ext cx="11423599" cy="11430"/>
          </a:xfrm>
          <a:prstGeom prst="rect">
            <a:avLst/>
          </a:prstGeom>
          <a:solidFill>
            <a:srgbClr val="E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3685032"/>
            <a:ext cx="264261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171C"/>
                </a:solidFill>
                <a:latin typeface="Segoe UI"/>
              </a:rPr>
              <a:t>Composite risk score across lenses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Stress, topology and ML reconciled into one verdict</a:t>
            </a:r>
          </a:p>
        </p:txBody>
      </p:sp>
      <p:sp>
        <p:nvSpPr>
          <p:cNvPr id="43" name="Oval 42"/>
          <p:cNvSpPr/>
          <p:nvPr/>
        </p:nvSpPr>
        <p:spPr>
          <a:xfrm>
            <a:off x="3890131" y="3712463"/>
            <a:ext cx="292608" cy="292608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44" name="Oval 43"/>
          <p:cNvSpPr/>
          <p:nvPr/>
        </p:nvSpPr>
        <p:spPr>
          <a:xfrm>
            <a:off x="5617067" y="3712463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5" name="Oval 44"/>
          <p:cNvSpPr/>
          <p:nvPr/>
        </p:nvSpPr>
        <p:spPr>
          <a:xfrm>
            <a:off x="7344003" y="3712463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6" name="Oval 45"/>
          <p:cNvSpPr/>
          <p:nvPr/>
        </p:nvSpPr>
        <p:spPr>
          <a:xfrm>
            <a:off x="9070939" y="3712463"/>
            <a:ext cx="292608" cy="292608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47" name="Oval 46"/>
          <p:cNvSpPr/>
          <p:nvPr/>
        </p:nvSpPr>
        <p:spPr>
          <a:xfrm>
            <a:off x="10797875" y="3712463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4059936"/>
            <a:ext cx="11423599" cy="11430"/>
          </a:xfrm>
          <a:prstGeom prst="rect">
            <a:avLst/>
          </a:prstGeom>
          <a:solidFill>
            <a:srgbClr val="E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4087368"/>
            <a:ext cx="264261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171C"/>
                </a:solidFill>
                <a:latin typeface="Segoe UI"/>
              </a:rPr>
              <a:t>Strategy evaluation environment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Run a strategy over generated or historical paths</a:t>
            </a:r>
          </a:p>
        </p:txBody>
      </p:sp>
      <p:sp>
        <p:nvSpPr>
          <p:cNvPr id="50" name="Oval 49"/>
          <p:cNvSpPr/>
          <p:nvPr/>
        </p:nvSpPr>
        <p:spPr>
          <a:xfrm>
            <a:off x="3890131" y="4114800"/>
            <a:ext cx="292608" cy="292608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51" name="Oval 50"/>
          <p:cNvSpPr/>
          <p:nvPr/>
        </p:nvSpPr>
        <p:spPr>
          <a:xfrm>
            <a:off x="5617067" y="4114800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2" name="Oval 51"/>
          <p:cNvSpPr/>
          <p:nvPr/>
        </p:nvSpPr>
        <p:spPr>
          <a:xfrm>
            <a:off x="7344003" y="4114800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3" name="Oval 52"/>
          <p:cNvSpPr/>
          <p:nvPr/>
        </p:nvSpPr>
        <p:spPr>
          <a:xfrm>
            <a:off x="9070939" y="4114800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4" name="Oval 53"/>
          <p:cNvSpPr/>
          <p:nvPr/>
        </p:nvSpPr>
        <p:spPr>
          <a:xfrm>
            <a:off x="10797875" y="4114800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4462272"/>
            <a:ext cx="11423599" cy="11430"/>
          </a:xfrm>
          <a:prstGeom prst="rect">
            <a:avLst/>
          </a:prstGeom>
          <a:solidFill>
            <a:srgbClr val="E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4489704"/>
            <a:ext cx="264261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171C"/>
                </a:solidFill>
                <a:latin typeface="Segoe UI"/>
              </a:rPr>
              <a:t>Auditable, reproducible runs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Versioned inputs, role-based access, traceable outputs</a:t>
            </a:r>
          </a:p>
        </p:txBody>
      </p:sp>
      <p:sp>
        <p:nvSpPr>
          <p:cNvPr id="57" name="Oval 56"/>
          <p:cNvSpPr/>
          <p:nvPr/>
        </p:nvSpPr>
        <p:spPr>
          <a:xfrm>
            <a:off x="3890131" y="4517136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8" name="Oval 57"/>
          <p:cNvSpPr/>
          <p:nvPr/>
        </p:nvSpPr>
        <p:spPr>
          <a:xfrm>
            <a:off x="5617067" y="4517136"/>
            <a:ext cx="292608" cy="292608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59" name="Oval 58"/>
          <p:cNvSpPr/>
          <p:nvPr/>
        </p:nvSpPr>
        <p:spPr>
          <a:xfrm>
            <a:off x="7344003" y="4517136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60" name="Oval 59"/>
          <p:cNvSpPr/>
          <p:nvPr/>
        </p:nvSpPr>
        <p:spPr>
          <a:xfrm>
            <a:off x="9070939" y="4517136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1" name="Oval 60"/>
          <p:cNvSpPr/>
          <p:nvPr/>
        </p:nvSpPr>
        <p:spPr>
          <a:xfrm>
            <a:off x="10797875" y="4517136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" y="4864608"/>
            <a:ext cx="11423599" cy="11430"/>
          </a:xfrm>
          <a:prstGeom prst="rect">
            <a:avLst/>
          </a:prstGeom>
          <a:solidFill>
            <a:srgbClr val="E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" y="4892040"/>
            <a:ext cx="264261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171C"/>
                </a:solidFill>
                <a:latin typeface="Segoe UI"/>
              </a:rPr>
              <a:t>Usable without institutional onboarding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00" b="0">
                <a:solidFill>
                  <a:srgbClr val="6F7B87"/>
                </a:solidFill>
                <a:latin typeface="Segoe UI"/>
              </a:rPr>
              <a:t>No enterprise sales cycle or per-module licensing</a:t>
            </a:r>
          </a:p>
        </p:txBody>
      </p:sp>
      <p:sp>
        <p:nvSpPr>
          <p:cNvPr id="64" name="Oval 63"/>
          <p:cNvSpPr/>
          <p:nvPr/>
        </p:nvSpPr>
        <p:spPr>
          <a:xfrm>
            <a:off x="3890131" y="4919472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65" name="Oval 64"/>
          <p:cNvSpPr/>
          <p:nvPr/>
        </p:nvSpPr>
        <p:spPr>
          <a:xfrm>
            <a:off x="5617067" y="4919472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6" name="Oval 65"/>
          <p:cNvSpPr/>
          <p:nvPr/>
        </p:nvSpPr>
        <p:spPr>
          <a:xfrm>
            <a:off x="7344003" y="4919472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7" name="Oval 66"/>
          <p:cNvSpPr/>
          <p:nvPr/>
        </p:nvSpPr>
        <p:spPr>
          <a:xfrm>
            <a:off x="9070939" y="4919472"/>
            <a:ext cx="292608" cy="29260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68" name="Oval 67"/>
          <p:cNvSpPr/>
          <p:nvPr/>
        </p:nvSpPr>
        <p:spPr>
          <a:xfrm>
            <a:off x="10797875" y="4919472"/>
            <a:ext cx="292608" cy="29260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" y="5376672"/>
            <a:ext cx="11423599" cy="20320"/>
          </a:xfrm>
          <a:prstGeom prst="rect">
            <a:avLst/>
          </a:prstGeom>
          <a:solidFill>
            <a:srgbClr val="C7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4048" y="5449823"/>
            <a:ext cx="2642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F7B87"/>
                </a:solidFill>
                <a:latin typeface="Segoe UI"/>
              </a:rPr>
              <a:t>PRICING MODEL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36975" y="5449823"/>
            <a:ext cx="1598919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2171C"/>
                </a:solidFill>
                <a:latin typeface="Segoe UI"/>
              </a:rPr>
              <a:t>Enterprise licence, quote only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3F4A55"/>
                </a:solidFill>
                <a:latin typeface="Segoe UI"/>
              </a:rPr>
              <a:t>Modular per-function and per-user subscription. Multi-year contracts. No public price list.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63911" y="5449823"/>
            <a:ext cx="1598919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2171C"/>
                </a:solidFill>
                <a:latin typeface="Segoe UI"/>
              </a:rPr>
              <a:t>Free tier + seats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3F4A55"/>
                </a:solidFill>
                <a:latin typeface="Segoe UI"/>
              </a:rPr>
              <a:t>Researcher ~$60/mo. Team from ~$24/user/mo. Trading Firm ~$48/user/mo. Institution ~$96/user/mo, billed annually.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0847" y="5449823"/>
            <a:ext cx="1598919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2171C"/>
                </a:solidFill>
                <a:latin typeface="Segoe UI"/>
              </a:rPr>
              <a:t>Free tier + subscription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3F4A55"/>
                </a:solidFill>
                <a:latin typeface="Segoe UI"/>
              </a:rPr>
              <a:t>Free tier with 2007-2011 US history. Paid from ~$20/mo. Non-Professional and Professional licences.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7783" y="5449823"/>
            <a:ext cx="1598919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2171C"/>
                </a:solidFill>
                <a:latin typeface="Segoe UI"/>
              </a:rPr>
              <a:t>Enterprise licence, quote only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3F4A55"/>
                </a:solidFill>
                <a:latin typeface="Segoe UI"/>
              </a:rPr>
              <a:t>Priced by users, markets traded and deployment model. Top of market. No public price list.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44719" y="5449823"/>
            <a:ext cx="1598919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B6F5B"/>
                </a:solidFill>
                <a:latin typeface="Segoe UI"/>
              </a:rPr>
              <a:t>Single research environment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3F4A55"/>
                </a:solidFill>
                <a:latin typeface="Segoe UI"/>
              </a:rPr>
              <a:t>One platform, no per-module licensing and no market-data resale. Proof of concept for research use.</a:t>
            </a:r>
          </a:p>
        </p:txBody>
      </p:sp>
      <p:sp>
        <p:nvSpPr>
          <p:cNvPr id="76" name="Oval 75"/>
          <p:cNvSpPr/>
          <p:nvPr/>
        </p:nvSpPr>
        <p:spPr>
          <a:xfrm>
            <a:off x="384048" y="6519671"/>
            <a:ext cx="201168" cy="201168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6519671"/>
            <a:ext cx="1737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F7B87"/>
                </a:solidFill>
                <a:latin typeface="Segoe UI"/>
              </a:rPr>
              <a:t>Core product capability</a:t>
            </a:r>
          </a:p>
        </p:txBody>
      </p:sp>
      <p:sp>
        <p:nvSpPr>
          <p:cNvPr id="78" name="Oval 77"/>
          <p:cNvSpPr/>
          <p:nvPr/>
        </p:nvSpPr>
        <p:spPr>
          <a:xfrm>
            <a:off x="2350008" y="6519671"/>
            <a:ext cx="201168" cy="201168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039" y="6519671"/>
            <a:ext cx="1737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F7B87"/>
                </a:solidFill>
                <a:latin typeface="Segoe UI"/>
              </a:rPr>
              <a:t>Partial or user-built</a:t>
            </a:r>
          </a:p>
        </p:txBody>
      </p:sp>
      <p:sp>
        <p:nvSpPr>
          <p:cNvPr id="80" name="Oval 79"/>
          <p:cNvSpPr/>
          <p:nvPr/>
        </p:nvSpPr>
        <p:spPr>
          <a:xfrm>
            <a:off x="4315968" y="6519671"/>
            <a:ext cx="201168" cy="201168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0" y="6519671"/>
            <a:ext cx="1737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F7B87"/>
                </a:solidFill>
                <a:latin typeface="Segoe UI"/>
              </a:rPr>
              <a:t>Not offered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87007" y="6437375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>
                <a:solidFill>
                  <a:srgbClr val="6F7B87"/>
                </a:solidFill>
                <a:latin typeface="Segoe UI"/>
              </a:rPr>
              <a:t>QuantSim is a research and experimentation environment, not a replacement for institutional trading infrastructure. Pricing as published by each vendor, September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