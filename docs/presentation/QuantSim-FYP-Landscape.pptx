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528401" y="1078992"/>
            <a:ext cx="1251813" cy="5065775"/>
          </a:xfrm>
          <a:prstGeom prst="rect">
            <a:avLst/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9144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B5334"/>
                </a:solidFill>
                <a:latin typeface="Segoe UI"/>
              </a:rPr>
              <a:t>Prior FYP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2459736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F7B87"/>
                </a:solidFill>
                <a:latin typeface="Segoe UI"/>
              </a:rP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TRADINI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6F7B87"/>
                </a:solidFill>
                <a:latin typeface="Segoe UI"/>
              </a:rPr>
              <a:t>F22-066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5909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Binance ML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6F7B87"/>
                </a:solidFill>
                <a:latin typeface="Segoe UI"/>
              </a:rPr>
              <a:t>S23-027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7723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NeuraSight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6F7B87"/>
                </a:solidFill>
                <a:latin typeface="Segoe UI"/>
              </a:rPr>
              <a:t>F23-068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9536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TradeX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6F7B87"/>
                </a:solidFill>
                <a:latin typeface="Segoe UI"/>
              </a:rPr>
              <a:t>S25-024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1350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CashFlow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6F7B87"/>
                </a:solidFill>
                <a:latin typeface="Segoe UI"/>
              </a:rPr>
              <a:t>F25-091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3164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171C"/>
                </a:solidFill>
                <a:latin typeface="Segoe UI"/>
              </a:rPr>
              <a:t>Trade360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6F7B87"/>
                </a:solidFill>
                <a:latin typeface="Segoe UI"/>
              </a:rPr>
              <a:t>F25-342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4977" y="1170432"/>
            <a:ext cx="1178661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A6E4E"/>
                </a:solidFill>
                <a:latin typeface="Segoe UI"/>
              </a:rPr>
              <a:t>QuantSim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0A6E4E"/>
                </a:solidFill>
                <a:latin typeface="Segoe UI"/>
              </a:rPr>
              <a:t>this FYP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55648"/>
            <a:ext cx="11368735" cy="15240"/>
          </a:xfrm>
          <a:prstGeom prst="rect">
            <a:avLst/>
          </a:prstGeom>
          <a:solidFill>
            <a:srgbClr val="C7D0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28401" y="1746504"/>
            <a:ext cx="1251813" cy="25400"/>
          </a:xfrm>
          <a:prstGeom prst="rect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92224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Synthetic market simulation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3478834" y="1895093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7" name="Oval 16"/>
          <p:cNvSpPr/>
          <p:nvPr/>
        </p:nvSpPr>
        <p:spPr>
          <a:xfrm>
            <a:off x="4730648" y="1895093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8" name="Oval 17"/>
          <p:cNvSpPr/>
          <p:nvPr/>
        </p:nvSpPr>
        <p:spPr>
          <a:xfrm>
            <a:off x="5982462" y="1895093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9" name="Oval 18"/>
          <p:cNvSpPr/>
          <p:nvPr/>
        </p:nvSpPr>
        <p:spPr>
          <a:xfrm>
            <a:off x="7234275" y="1895093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0" name="Oval 19"/>
          <p:cNvSpPr/>
          <p:nvPr/>
        </p:nvSpPr>
        <p:spPr>
          <a:xfrm>
            <a:off x="8486089" y="1895093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1" name="Oval 20"/>
          <p:cNvSpPr/>
          <p:nvPr/>
        </p:nvSpPr>
        <p:spPr>
          <a:xfrm>
            <a:off x="9737902" y="1895093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22" name="Oval 21"/>
          <p:cNvSpPr/>
          <p:nvPr/>
        </p:nvSpPr>
        <p:spPr>
          <a:xfrm>
            <a:off x="10989716" y="1895093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27148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27148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Stress &amp; scenario testing</a:t>
            </a:r>
          </a:p>
        </p:txBody>
      </p:sp>
      <p:sp>
        <p:nvSpPr>
          <p:cNvPr id="25" name="Oval 24"/>
          <p:cNvSpPr/>
          <p:nvPr/>
        </p:nvSpPr>
        <p:spPr>
          <a:xfrm>
            <a:off x="3478834" y="243001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6" name="Oval 25"/>
          <p:cNvSpPr/>
          <p:nvPr/>
        </p:nvSpPr>
        <p:spPr>
          <a:xfrm>
            <a:off x="4730648" y="243001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7" name="Oval 26"/>
          <p:cNvSpPr/>
          <p:nvPr/>
        </p:nvSpPr>
        <p:spPr>
          <a:xfrm>
            <a:off x="5982462" y="243001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8" name="Oval 27"/>
          <p:cNvSpPr/>
          <p:nvPr/>
        </p:nvSpPr>
        <p:spPr>
          <a:xfrm>
            <a:off x="7234275" y="243001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29" name="Oval 28"/>
          <p:cNvSpPr/>
          <p:nvPr/>
        </p:nvSpPr>
        <p:spPr>
          <a:xfrm>
            <a:off x="8486089" y="243001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0" name="Oval 29"/>
          <p:cNvSpPr/>
          <p:nvPr/>
        </p:nvSpPr>
        <p:spPr>
          <a:xfrm>
            <a:off x="9737902" y="2430018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31" name="Oval 30"/>
          <p:cNvSpPr/>
          <p:nvPr/>
        </p:nvSpPr>
        <p:spPr>
          <a:xfrm>
            <a:off x="10989716" y="2430018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862072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862072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Topological analysis</a:t>
            </a:r>
          </a:p>
        </p:txBody>
      </p:sp>
      <p:sp>
        <p:nvSpPr>
          <p:cNvPr id="34" name="Oval 33"/>
          <p:cNvSpPr/>
          <p:nvPr/>
        </p:nvSpPr>
        <p:spPr>
          <a:xfrm>
            <a:off x="3478834" y="2964941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5" name="Oval 34"/>
          <p:cNvSpPr/>
          <p:nvPr/>
        </p:nvSpPr>
        <p:spPr>
          <a:xfrm>
            <a:off x="4730648" y="2964941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6" name="Oval 35"/>
          <p:cNvSpPr/>
          <p:nvPr/>
        </p:nvSpPr>
        <p:spPr>
          <a:xfrm>
            <a:off x="5982462" y="2964941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37" name="Oval 36"/>
          <p:cNvSpPr/>
          <p:nvPr/>
        </p:nvSpPr>
        <p:spPr>
          <a:xfrm>
            <a:off x="7234275" y="2964941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8" name="Oval 37"/>
          <p:cNvSpPr/>
          <p:nvPr/>
        </p:nvSpPr>
        <p:spPr>
          <a:xfrm>
            <a:off x="8486089" y="2964941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9" name="Oval 38"/>
          <p:cNvSpPr/>
          <p:nvPr/>
        </p:nvSpPr>
        <p:spPr>
          <a:xfrm>
            <a:off x="9737902" y="2964941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0" name="Oval 39"/>
          <p:cNvSpPr/>
          <p:nvPr/>
        </p:nvSpPr>
        <p:spPr>
          <a:xfrm>
            <a:off x="10989716" y="2964941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396996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396996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Explainable AI on risk</a:t>
            </a:r>
          </a:p>
        </p:txBody>
      </p:sp>
      <p:sp>
        <p:nvSpPr>
          <p:cNvPr id="43" name="Oval 42"/>
          <p:cNvSpPr/>
          <p:nvPr/>
        </p:nvSpPr>
        <p:spPr>
          <a:xfrm>
            <a:off x="3478834" y="3499866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4" name="Oval 43"/>
          <p:cNvSpPr/>
          <p:nvPr/>
        </p:nvSpPr>
        <p:spPr>
          <a:xfrm>
            <a:off x="4730648" y="3499866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5" name="Oval 44"/>
          <p:cNvSpPr/>
          <p:nvPr/>
        </p:nvSpPr>
        <p:spPr>
          <a:xfrm>
            <a:off x="5982462" y="3499866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46" name="Oval 45"/>
          <p:cNvSpPr/>
          <p:nvPr/>
        </p:nvSpPr>
        <p:spPr>
          <a:xfrm>
            <a:off x="7234275" y="3499866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7" name="Oval 46"/>
          <p:cNvSpPr/>
          <p:nvPr/>
        </p:nvSpPr>
        <p:spPr>
          <a:xfrm>
            <a:off x="8486089" y="3499866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48" name="Oval 47"/>
          <p:cNvSpPr/>
          <p:nvPr/>
        </p:nvSpPr>
        <p:spPr>
          <a:xfrm>
            <a:off x="9737902" y="3499866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9" name="Oval 48"/>
          <p:cNvSpPr/>
          <p:nvPr/>
        </p:nvSpPr>
        <p:spPr>
          <a:xfrm>
            <a:off x="10989716" y="3499866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931920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931920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Composite risk score</a:t>
            </a:r>
          </a:p>
        </p:txBody>
      </p:sp>
      <p:sp>
        <p:nvSpPr>
          <p:cNvPr id="52" name="Oval 51"/>
          <p:cNvSpPr/>
          <p:nvPr/>
        </p:nvSpPr>
        <p:spPr>
          <a:xfrm>
            <a:off x="3478834" y="4034789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53" name="Oval 52"/>
          <p:cNvSpPr/>
          <p:nvPr/>
        </p:nvSpPr>
        <p:spPr>
          <a:xfrm>
            <a:off x="4730648" y="4034789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54" name="Oval 53"/>
          <p:cNvSpPr/>
          <p:nvPr/>
        </p:nvSpPr>
        <p:spPr>
          <a:xfrm>
            <a:off x="5982462" y="4034789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55" name="Oval 54"/>
          <p:cNvSpPr/>
          <p:nvPr/>
        </p:nvSpPr>
        <p:spPr>
          <a:xfrm>
            <a:off x="7234275" y="4034789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56" name="Oval 55"/>
          <p:cNvSpPr/>
          <p:nvPr/>
        </p:nvSpPr>
        <p:spPr>
          <a:xfrm>
            <a:off x="8486089" y="4034789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57" name="Oval 56"/>
          <p:cNvSpPr/>
          <p:nvPr/>
        </p:nvSpPr>
        <p:spPr>
          <a:xfrm>
            <a:off x="9737902" y="4034789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58" name="Oval 57"/>
          <p:cNvSpPr/>
          <p:nvPr/>
        </p:nvSpPr>
        <p:spPr>
          <a:xfrm>
            <a:off x="10989716" y="4034789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466844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4466844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Strategy evaluation</a:t>
            </a:r>
          </a:p>
        </p:txBody>
      </p:sp>
      <p:sp>
        <p:nvSpPr>
          <p:cNvPr id="61" name="Oval 60"/>
          <p:cNvSpPr/>
          <p:nvPr/>
        </p:nvSpPr>
        <p:spPr>
          <a:xfrm>
            <a:off x="3478834" y="4569714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2" name="Oval 61"/>
          <p:cNvSpPr/>
          <p:nvPr/>
        </p:nvSpPr>
        <p:spPr>
          <a:xfrm>
            <a:off x="4730648" y="4569714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3" name="Oval 62"/>
          <p:cNvSpPr/>
          <p:nvPr/>
        </p:nvSpPr>
        <p:spPr>
          <a:xfrm>
            <a:off x="5982462" y="4569714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64" name="Oval 63"/>
          <p:cNvSpPr/>
          <p:nvPr/>
        </p:nvSpPr>
        <p:spPr>
          <a:xfrm>
            <a:off x="7234275" y="4569714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65" name="Oval 64"/>
          <p:cNvSpPr/>
          <p:nvPr/>
        </p:nvSpPr>
        <p:spPr>
          <a:xfrm>
            <a:off x="8486089" y="4569714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66" name="Oval 65"/>
          <p:cNvSpPr/>
          <p:nvPr/>
        </p:nvSpPr>
        <p:spPr>
          <a:xfrm>
            <a:off x="9737902" y="4569714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7" name="Oval 66"/>
          <p:cNvSpPr/>
          <p:nvPr/>
        </p:nvSpPr>
        <p:spPr>
          <a:xfrm>
            <a:off x="10989716" y="4569714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001768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5001768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Auditable, reproducible runs</a:t>
            </a:r>
          </a:p>
        </p:txBody>
      </p:sp>
      <p:sp>
        <p:nvSpPr>
          <p:cNvPr id="70" name="Oval 69"/>
          <p:cNvSpPr/>
          <p:nvPr/>
        </p:nvSpPr>
        <p:spPr>
          <a:xfrm>
            <a:off x="3478834" y="510463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71" name="Oval 70"/>
          <p:cNvSpPr/>
          <p:nvPr/>
        </p:nvSpPr>
        <p:spPr>
          <a:xfrm>
            <a:off x="4730648" y="510463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72" name="Oval 71"/>
          <p:cNvSpPr/>
          <p:nvPr/>
        </p:nvSpPr>
        <p:spPr>
          <a:xfrm>
            <a:off x="5982462" y="510463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73" name="Oval 72"/>
          <p:cNvSpPr/>
          <p:nvPr/>
        </p:nvSpPr>
        <p:spPr>
          <a:xfrm>
            <a:off x="7234275" y="510463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74" name="Oval 73"/>
          <p:cNvSpPr/>
          <p:nvPr/>
        </p:nvSpPr>
        <p:spPr>
          <a:xfrm>
            <a:off x="8486089" y="510463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75" name="Oval 74"/>
          <p:cNvSpPr/>
          <p:nvPr/>
        </p:nvSpPr>
        <p:spPr>
          <a:xfrm>
            <a:off x="9737902" y="5104638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76" name="Oval 75"/>
          <p:cNvSpPr/>
          <p:nvPr/>
        </p:nvSpPr>
        <p:spPr>
          <a:xfrm>
            <a:off x="10989716" y="5104638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" y="5536692"/>
            <a:ext cx="11368735" cy="1143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5536692"/>
            <a:ext cx="244144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2171C"/>
                </a:solidFill>
                <a:latin typeface="Segoe UI"/>
              </a:rPr>
              <a:t>Research output, not trading</a:t>
            </a:r>
          </a:p>
        </p:txBody>
      </p:sp>
      <p:sp>
        <p:nvSpPr>
          <p:cNvPr id="79" name="Oval 78"/>
          <p:cNvSpPr/>
          <p:nvPr/>
        </p:nvSpPr>
        <p:spPr>
          <a:xfrm>
            <a:off x="3478834" y="5639562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80" name="Oval 79"/>
          <p:cNvSpPr/>
          <p:nvPr/>
        </p:nvSpPr>
        <p:spPr>
          <a:xfrm>
            <a:off x="4730648" y="5639562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81" name="Oval 80"/>
          <p:cNvSpPr/>
          <p:nvPr/>
        </p:nvSpPr>
        <p:spPr>
          <a:xfrm>
            <a:off x="5982462" y="5639562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2" name="Oval 81"/>
          <p:cNvSpPr/>
          <p:nvPr/>
        </p:nvSpPr>
        <p:spPr>
          <a:xfrm>
            <a:off x="7234275" y="5639562"/>
            <a:ext cx="329184" cy="32918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83" name="Oval 82"/>
          <p:cNvSpPr/>
          <p:nvPr/>
        </p:nvSpPr>
        <p:spPr>
          <a:xfrm>
            <a:off x="8486089" y="5639562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4" name="Oval 83"/>
          <p:cNvSpPr/>
          <p:nvPr/>
        </p:nvSpPr>
        <p:spPr>
          <a:xfrm>
            <a:off x="9737902" y="5639562"/>
            <a:ext cx="329184" cy="32918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85" name="Oval 84"/>
          <p:cNvSpPr/>
          <p:nvPr/>
        </p:nvSpPr>
        <p:spPr>
          <a:xfrm>
            <a:off x="10989716" y="5639562"/>
            <a:ext cx="329184" cy="32918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6" name="Oval 85"/>
          <p:cNvSpPr/>
          <p:nvPr/>
        </p:nvSpPr>
        <p:spPr>
          <a:xfrm>
            <a:off x="406908" y="6304788"/>
            <a:ext cx="192024" cy="192024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" y="6300216"/>
            <a:ext cx="19202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F7B87"/>
                </a:solidFill>
                <a:latin typeface="Segoe UI"/>
              </a:rPr>
              <a:t>Available</a:t>
            </a:r>
          </a:p>
        </p:txBody>
      </p:sp>
      <p:sp>
        <p:nvSpPr>
          <p:cNvPr id="88" name="Oval 87"/>
          <p:cNvSpPr/>
          <p:nvPr/>
        </p:nvSpPr>
        <p:spPr>
          <a:xfrm>
            <a:off x="2189988" y="6304788"/>
            <a:ext cx="192024" cy="192024"/>
          </a:xfrm>
          <a:prstGeom prst="ellipse">
            <a:avLst/>
          </a:prstGeom>
          <a:solidFill>
            <a:srgbClr val="C0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41448" y="6300216"/>
            <a:ext cx="19202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F7B87"/>
                </a:solidFill>
                <a:latin typeface="Segoe UI"/>
              </a:rPr>
              <a:t>Partial / adjacent</a:t>
            </a:r>
          </a:p>
        </p:txBody>
      </p:sp>
      <p:sp>
        <p:nvSpPr>
          <p:cNvPr id="90" name="Oval 89"/>
          <p:cNvSpPr/>
          <p:nvPr/>
        </p:nvSpPr>
        <p:spPr>
          <a:xfrm>
            <a:off x="3973067" y="6304788"/>
            <a:ext cx="192024" cy="192024"/>
          </a:xfrm>
          <a:prstGeom prst="ellipse">
            <a:avLst/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24527" y="6300216"/>
            <a:ext cx="19202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F7B87"/>
                </a:solidFill>
                <a:latin typeface="Segoe UI"/>
              </a:rPr>
              <a:t>Not offered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